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Citation-Network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303030"/>
                </a:solidFill>
                <a:latin typeface="Georgia"/>
              </a:defRPr>
            </a:pPr>
            <a:r>
              <a:t>Data Structures and Algorithms - 3 (25CS2103E)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23160"/>
            <a:ext cx="85039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303030"/>
                </a:solidFill>
                <a:latin typeface="Georgia"/>
              </a:defRPr>
            </a:pPr>
            <a:r>
              <a:t>Team Number: 16     |     Section: 13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303030"/>
                </a:solidFill>
                <a:latin typeface="Georgia"/>
              </a:defRPr>
            </a:pPr>
            <a:r>
              <a:t>Sai Ajith Reddy (2520090186)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303030"/>
                </a:solidFill>
                <a:latin typeface="Georgia"/>
              </a:defRPr>
            </a:pPr>
            <a:r>
              <a:t>P. Rithwik Rao (2520090203)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303030"/>
                </a:solidFill>
                <a:latin typeface="Georgia"/>
              </a:defRPr>
            </a:pPr>
            <a:r>
              <a:t>P. Likith Kumar (2520090084)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303030"/>
                </a:solidFill>
                <a:latin typeface="Georgia"/>
              </a:defRPr>
            </a:pPr>
          </a:p>
          <a:p>
            <a:pPr algn="ctr">
              <a:spcAft>
                <a:spcPts val="800"/>
              </a:spcAft>
              <a:defRPr sz="1600" b="0">
                <a:solidFill>
                  <a:srgbClr val="303030"/>
                </a:solidFill>
                <a:latin typeface="Georgia"/>
              </a:defRPr>
            </a:pPr>
            <a:r>
              <a:t>Under the guidance of Dr. Dyuti Benerjee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303030"/>
                </a:solidFill>
                <a:latin typeface="Georgia"/>
              </a:defRPr>
            </a:pPr>
            <a:r>
              <a:t>A.Y.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261872"/>
            <a:ext cx="9326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t>Abstract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t>Introduction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t>Literature Survey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t>Problem Statement and Objectives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t>Hardware and Software Requirements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t>Results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t>Conclusion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9921240" y="4800600"/>
            <a:ext cx="731520" cy="411480"/>
          </a:xfrm>
          <a:prstGeom prst="line">
            <a:avLst/>
          </a:prstGeom>
          <a:ln w="19050">
            <a:solidFill>
              <a:srgbClr val="BE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52760" y="4800600"/>
            <a:ext cx="502920" cy="640080"/>
          </a:xfrm>
          <a:prstGeom prst="line">
            <a:avLst/>
          </a:prstGeom>
          <a:ln w="19050">
            <a:solidFill>
              <a:srgbClr val="BE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424160" y="5440680"/>
            <a:ext cx="731520" cy="457200"/>
          </a:xfrm>
          <a:prstGeom prst="line">
            <a:avLst/>
          </a:prstGeom>
          <a:ln w="19050">
            <a:solidFill>
              <a:srgbClr val="BE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784080" y="5074920"/>
            <a:ext cx="310896" cy="310896"/>
          </a:xfrm>
          <a:prstGeom prst="ellipse">
            <a:avLst/>
          </a:prstGeom>
          <a:solidFill>
            <a:srgbClr val="3D749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0515600" y="4663440"/>
            <a:ext cx="310896" cy="310896"/>
          </a:xfrm>
          <a:prstGeom prst="ellipse">
            <a:avLst/>
          </a:prstGeom>
          <a:solidFill>
            <a:srgbClr val="5687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11018520" y="5303520"/>
            <a:ext cx="310896" cy="310896"/>
          </a:xfrm>
          <a:prstGeom prst="ellipse">
            <a:avLst/>
          </a:prstGeom>
          <a:solidFill>
            <a:srgbClr val="745B9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10287000" y="5760720"/>
            <a:ext cx="310896" cy="310896"/>
          </a:xfrm>
          <a:prstGeom prst="ellipse">
            <a:avLst/>
          </a:prstGeom>
          <a:solidFill>
            <a:srgbClr val="E25B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>
                <a:solidFill>
                  <a:srgbClr val="303030"/>
                </a:solidFill>
                <a:latin typeface="Georgia"/>
              </a:defRPr>
            </a:pPr>
            <a:r>
              <a:t>The Citation-Network Analytics Platform analyzes relationships among research papers through their citation networks.</a:t>
            </a:r>
          </a:p>
          <a:p>
            <a:pPr>
              <a:spcAft>
                <a:spcPts val="700"/>
              </a:spcAft>
              <a:defRPr sz="1700">
                <a:solidFill>
                  <a:srgbClr val="303030"/>
                </a:solidFill>
                <a:latin typeface="Georgia"/>
              </a:defRPr>
            </a:pPr>
            <a:r>
              <a:t>Research papers are represented as nodes and citations as directed edges, forming a directed citation graph.</a:t>
            </a:r>
          </a:p>
          <a:p>
            <a:pPr>
              <a:spcAft>
                <a:spcPts val="700"/>
              </a:spcAft>
              <a:defRPr sz="1700">
                <a:solidFill>
                  <a:srgbClr val="303030"/>
                </a:solidFill>
                <a:latin typeface="Georgia"/>
              </a:defRPr>
            </a:pPr>
            <a:r>
              <a:t>BFS and DFS are used for citation-flow analysis, while PageRank identifies influential papers.</a:t>
            </a:r>
          </a:p>
          <a:p>
            <a:pPr>
              <a:spcAft>
                <a:spcPts val="700"/>
              </a:spcAft>
              <a:defRPr sz="1700">
                <a:solidFill>
                  <a:srgbClr val="303030"/>
                </a:solidFill>
                <a:latin typeface="Georgia"/>
              </a:defRPr>
            </a:pPr>
            <a:r>
              <a:t>Community detection discovers groups of closely related research papers.</a:t>
            </a:r>
          </a:p>
          <a:p>
            <a:pPr>
              <a:spcAft>
                <a:spcPts val="700"/>
              </a:spcAft>
              <a:defRPr sz="1700">
                <a:solidFill>
                  <a:srgbClr val="303030"/>
                </a:solidFill>
                <a:latin typeface="Georgia"/>
              </a:defRPr>
            </a:pPr>
            <a:r>
              <a:t>Author-paper relationships are maintained to analyze publications and collaborations.</a:t>
            </a:r>
          </a:p>
          <a:p>
            <a:pPr>
              <a:spcAft>
                <a:spcPts val="700"/>
              </a:spcAft>
              <a:defRPr sz="1700">
                <a:solidFill>
                  <a:srgbClr val="303030"/>
                </a:solidFill>
                <a:latin typeface="Georgia"/>
              </a:defRPr>
            </a:pPr>
            <a:r>
              <a:t>An interactive dashboard presents citation networks, influential papers, research communities, citation paths, and author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303030"/>
                </a:solidFill>
                <a:latin typeface="Georgia"/>
              </a:defRPr>
            </a:pPr>
            <a:r>
              <a:t>Research papers are strongly connected because new research commonly builds upon previously published work.</a:t>
            </a:r>
          </a:p>
          <a:p>
            <a:pPr>
              <a:spcAft>
                <a:spcPts val="1000"/>
              </a:spcAft>
              <a:defRPr sz="1800">
                <a:solidFill>
                  <a:srgbClr val="303030"/>
                </a:solidFill>
                <a:latin typeface="Georgia"/>
              </a:defRPr>
            </a:pPr>
            <a:r>
              <a:t>Existing academic search and citation systems provide citation counts, references, and basic paper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303030"/>
                </a:solidFill>
                <a:latin typeface="Georgia"/>
              </a:defRPr>
            </a:pPr>
            <a:r>
              <a:t>They may not provide a unified view of how papers are connected or how citations flow through the network.</a:t>
            </a:r>
          </a:p>
          <a:p>
            <a:pPr>
              <a:spcAft>
                <a:spcPts val="1000"/>
              </a:spcAft>
              <a:defRPr sz="1800">
                <a:solidFill>
                  <a:srgbClr val="303030"/>
                </a:solidFill>
                <a:latin typeface="Georgia"/>
              </a:defRPr>
            </a:pPr>
            <a:r>
              <a:t>Our platform models papers and citations as a directed graph to systematically explore citation relationships.</a:t>
            </a:r>
          </a:p>
          <a:p>
            <a:pPr>
              <a:spcAft>
                <a:spcPts val="1000"/>
              </a:spcAft>
              <a:defRPr sz="1800">
                <a:solidFill>
                  <a:srgbClr val="303030"/>
                </a:solidFill>
                <a:latin typeface="Georgia"/>
              </a:defRPr>
            </a:pPr>
            <a:r>
              <a:t>The platform combines graph algorithms with visualization to study influential papers, research communities, and authors.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61872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03030"/>
                </a:solidFill>
                <a:latin typeface="Georgia"/>
              </a:defRPr>
            </a:pPr>
            <a:r>
              <a:t>Academic search and citation systems commonly provide paper details, references, and citation counts.</a:t>
            </a:r>
          </a:p>
          <a:p>
            <a:pPr>
              <a:spcAft>
                <a:spcPts val="800"/>
              </a:spcAft>
              <a:defRPr sz="1700">
                <a:solidFill>
                  <a:srgbClr val="303030"/>
                </a:solidFill>
                <a:latin typeface="Georgia"/>
              </a:defRPr>
            </a:pPr>
            <a:r>
              <a:t>Graph-based approaches can represent citation relationships as networks of connected papers.</a:t>
            </a:r>
          </a:p>
          <a:p>
            <a:pPr>
              <a:spcAft>
                <a:spcPts val="800"/>
              </a:spcAft>
              <a:defRPr sz="1700">
                <a:solidFill>
                  <a:srgbClr val="303030"/>
                </a:solidFill>
                <a:latin typeface="Georgia"/>
              </a:defRPr>
            </a:pPr>
            <a:r>
              <a:t>Graph traversal methods such as BFS and DFS support exploration of network relationships and paths.</a:t>
            </a:r>
          </a:p>
          <a:p>
            <a:pPr>
              <a:spcAft>
                <a:spcPts val="800"/>
              </a:spcAft>
              <a:defRPr sz="1700">
                <a:solidFill>
                  <a:srgbClr val="303030"/>
                </a:solidFill>
                <a:latin typeface="Georgia"/>
              </a:defRPr>
            </a:pPr>
            <a:r>
              <a:t>PageRank-style ranking can be used to identify influential nodes based on link structure.</a:t>
            </a:r>
          </a:p>
          <a:p>
            <a:pPr>
              <a:spcAft>
                <a:spcPts val="800"/>
              </a:spcAft>
              <a:defRPr sz="1700">
                <a:solidFill>
                  <a:srgbClr val="303030"/>
                </a:solidFill>
                <a:latin typeface="Georgia"/>
              </a:defRPr>
            </a:pPr>
            <a:r>
              <a:t>Community detection can reveal closely connected groups within a network.</a:t>
            </a:r>
          </a:p>
          <a:p>
            <a:pPr>
              <a:spcAft>
                <a:spcPts val="800"/>
              </a:spcAft>
              <a:defRPr sz="1700">
                <a:solidFill>
                  <a:srgbClr val="303030"/>
                </a:solidFill>
                <a:latin typeface="Georgia"/>
              </a:defRPr>
            </a:pPr>
            <a:r>
              <a:t>Our proposed platform combines these ideas into one interactive citation-network analysis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98932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96969"/>
                </a:solidFill>
                <a:latin typeface="Georgia"/>
              </a:defRPr>
            </a:pPr>
            <a:r>
              <a:t>Note: This section is framed from the literature/background discussion present in the submitted abstract; no external papers were added.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Problem Statement and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5303520" cy="1920240"/>
          </a:xfrm>
          <a:prstGeom prst="roundRect">
            <a:avLst/>
          </a:prstGeom>
          <a:solidFill>
            <a:srgbClr val="FFFFFC"/>
          </a:solidFill>
          <a:ln>
            <a:solidFill>
              <a:srgbClr val="CD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28525F"/>
                </a:solidFill>
                <a:latin typeface="Georgia"/>
              </a:defRPr>
            </a:pPr>
            <a:r>
              <a:t>Problem Statement</a:t>
            </a:r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r>
              <a:t>Existing systems can provide citation counts and references, but may not give a unified view of citation relationships, citation flow, research communities, and author connections.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34440"/>
            <a:ext cx="5303520" cy="1920240"/>
          </a:xfrm>
          <a:prstGeom prst="roundRect">
            <a:avLst/>
          </a:prstGeom>
          <a:solidFill>
            <a:srgbClr val="FFFFFC"/>
          </a:solidFill>
          <a:ln>
            <a:solidFill>
              <a:srgbClr val="CD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28525F"/>
                </a:solidFill>
                <a:latin typeface="Georgia"/>
              </a:defRPr>
            </a:pPr>
            <a:r>
              <a:t>Objectives</a:t>
            </a:r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r>
              <a:t>Build a citation graph; analyze citation paths using BFS/DFS; identify influential papers with PageRank; discover research communities; analyze authors and collaborations; and visualize the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6576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  <a:defRPr sz="2000">
                <a:solidFill>
                  <a:srgbClr val="303030"/>
                </a:solidFill>
                <a:latin typeface="Georgia"/>
              </a:defRPr>
            </a:pPr>
            <a:r>
              <a:t>Primary DSA focus: Directed Graph, BFS, DFS, PageRank, and Community Detection.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000">
                <a:solidFill>
                  <a:srgbClr val="303030"/>
                </a:solidFill>
                <a:latin typeface="Georgia"/>
              </a:defRPr>
            </a:pPr>
            <a:r>
              <a:t>Primary user value: systematic exploration of academic literature and research relationships.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3246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D7496"/>
                </a:solidFill>
                <a:latin typeface="Georgia"/>
              </a:defRPr>
            </a:pPr>
            <a:r>
              <a:t>PROBLEM</a:t>
            </a:r>
          </a:p>
        </p:txBody>
      </p:sp>
      <p:sp>
        <p:nvSpPr>
          <p:cNvPr id="8" name="Oval 7"/>
          <p:cNvSpPr/>
          <p:nvPr/>
        </p:nvSpPr>
        <p:spPr>
          <a:xfrm>
            <a:off x="2423160" y="3794760"/>
            <a:ext cx="685800" cy="685800"/>
          </a:xfrm>
          <a:prstGeom prst="ellipse">
            <a:avLst/>
          </a:prstGeom>
          <a:solidFill>
            <a:srgbClr val="E25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3246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D7496"/>
                </a:solidFill>
                <a:latin typeface="Georgia"/>
              </a:defRPr>
            </a:pPr>
            <a:r>
              <a:t>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3767328"/>
            <a:ext cx="731520" cy="731520"/>
          </a:xfrm>
          <a:prstGeom prst="ellipse">
            <a:avLst/>
          </a:prstGeom>
          <a:solidFill>
            <a:srgbClr val="5687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Georgia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Hardware and Software Requirements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5486400" cy="5074920"/>
          </a:xfrm>
          <a:prstGeom prst="roundRect">
            <a:avLst/>
          </a:prstGeom>
          <a:solidFill>
            <a:srgbClr val="FFFFFC"/>
          </a:solidFill>
          <a:ln>
            <a:solidFill>
              <a:srgbClr val="CD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28525F"/>
                </a:solidFill>
                <a:latin typeface="Georgia"/>
              </a:defRPr>
            </a:pPr>
            <a:r>
              <a:t>Software Requirements</a:t>
            </a:r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r>
              <a:t>OS: Windows 10/11 or Linux</a:t>
            </a:r>
            <a:br/>
            <a:r>
              <a:t>Programming: Python</a:t>
            </a:r>
            <a:br/>
            <a:r>
              <a:t>Frontend: HTML, CSS, JavaScript / React.js</a:t>
            </a:r>
            <a:br/>
            <a:r>
              <a:t>Backend: Flask or FastAPI</a:t>
            </a:r>
            <a:br/>
            <a:r>
              <a:t>Database: SQLite / PostgreSQL</a:t>
            </a:r>
            <a:br/>
            <a:r>
              <a:t>Graph: NetworkX</a:t>
            </a:r>
            <a:br/>
            <a:r>
              <a:t>Data: Pandas, NumPy</a:t>
            </a:r>
            <a:br/>
            <a:r>
              <a:t>PDF/Text: PyPDF</a:t>
            </a:r>
            <a:br/>
            <a:r>
              <a:t>Visualization: Cytoscape.js or equivalent</a:t>
            </a:r>
            <a:br/>
            <a:r>
              <a:t>IDE: Visual Studio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143000"/>
            <a:ext cx="5303520" cy="5074920"/>
          </a:xfrm>
          <a:prstGeom prst="roundRect">
            <a:avLst/>
          </a:prstGeom>
          <a:solidFill>
            <a:srgbClr val="FFFFFC"/>
          </a:solidFill>
          <a:ln>
            <a:solidFill>
              <a:srgbClr val="CD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28525F"/>
                </a:solidFill>
                <a:latin typeface="Georgia"/>
              </a:defRPr>
            </a:pPr>
            <a:r>
              <a:t>Hardware Requirements</a:t>
            </a:r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r>
              <a:t>Processor: Intel Core i5 / AMD Ryzen 5 or equivalent</a:t>
            </a:r>
            <a:br/>
            <a:r>
              <a:t>RAM: Minimum 8 GB</a:t>
            </a:r>
            <a:br/>
            <a:r>
              <a:t>Storage: Minimum 10 GB free</a:t>
            </a:r>
            <a:br/>
            <a:r>
              <a:t>Display: 1366 × 768 or higher</a:t>
            </a:r>
            <a:br/>
            <a:r>
              <a:t>Internet: Required for datasets and external resources</a:t>
            </a:r>
            <a:br/>
            <a:r>
              <a:t>GPU: Not mandatory; integrated GPU is sufficient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349240" y="1417320"/>
            <a:ext cx="347472" cy="347472"/>
          </a:xfrm>
          <a:prstGeom prst="ellipse">
            <a:avLst/>
          </a:prstGeom>
          <a:solidFill>
            <a:srgbClr val="3D749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P</a:t>
            </a:r>
          </a:p>
        </p:txBody>
      </p:sp>
      <p:sp>
        <p:nvSpPr>
          <p:cNvPr id="7" name="Oval 6"/>
          <p:cNvSpPr/>
          <p:nvPr/>
        </p:nvSpPr>
        <p:spPr>
          <a:xfrm>
            <a:off x="5532120" y="2057400"/>
            <a:ext cx="347472" cy="347472"/>
          </a:xfrm>
          <a:prstGeom prst="ellipse">
            <a:avLst/>
          </a:prstGeom>
          <a:solidFill>
            <a:srgbClr val="5687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N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2697480"/>
            <a:ext cx="347472" cy="347472"/>
          </a:xfrm>
          <a:prstGeom prst="ellipse">
            <a:avLst/>
          </a:prstGeom>
          <a:solidFill>
            <a:srgbClr val="745B9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5532120" y="3337560"/>
            <a:ext cx="347472" cy="347472"/>
          </a:xfrm>
          <a:prstGeom prst="ellipse">
            <a:avLst/>
          </a:prstGeom>
          <a:solidFill>
            <a:srgbClr val="E25B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V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3977639"/>
            <a:ext cx="347472" cy="347472"/>
          </a:xfrm>
          <a:prstGeom prst="ellipse">
            <a:avLst/>
          </a:prstGeom>
          <a:solidFill>
            <a:srgbClr val="3D749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I</a:t>
            </a:r>
          </a:p>
        </p:txBody>
      </p:sp>
      <p:sp>
        <p:nvSpPr>
          <p:cNvPr id="11" name="Oval 10"/>
          <p:cNvSpPr/>
          <p:nvPr/>
        </p:nvSpPr>
        <p:spPr>
          <a:xfrm>
            <a:off x="5532120" y="4617720"/>
            <a:ext cx="347472" cy="347472"/>
          </a:xfrm>
          <a:prstGeom prst="ellipse">
            <a:avLst/>
          </a:prstGeom>
          <a:solidFill>
            <a:srgbClr val="5687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The proposed platform represents research papers and their citations as a directed graph.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BFS and DFS provide graph traversal for exploring citation relationships and paths.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PageRank provides a graph-based method for identifying influential papers.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Community detection provides a way to identify closely connected groups of papers.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Author-paper mapping supports publication and collaboration analysis.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The dashboard is designed to present these results visually for easier exploration.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98932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96969"/>
                </a:solidFill>
                <a:latin typeface="Georgia"/>
              </a:defRPr>
            </a:pPr>
            <a:r>
              <a:t>These are proposed/expected system results based on the submitted abstract, not measured experimental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8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8412480" y="3977640"/>
            <a:ext cx="1097279" cy="457200"/>
          </a:xfrm>
          <a:prstGeom prst="line">
            <a:avLst/>
          </a:prstGeom>
          <a:ln w="19050">
            <a:solidFill>
              <a:srgbClr val="BE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509759" y="3977640"/>
            <a:ext cx="1051560" cy="548640"/>
          </a:xfrm>
          <a:prstGeom prst="line">
            <a:avLst/>
          </a:prstGeom>
          <a:ln w="19050">
            <a:solidFill>
              <a:srgbClr val="BE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12480" y="4434840"/>
            <a:ext cx="1005839" cy="822960"/>
          </a:xfrm>
          <a:prstGeom prst="line">
            <a:avLst/>
          </a:prstGeom>
          <a:ln w="19050">
            <a:solidFill>
              <a:srgbClr val="BE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418319" y="3977640"/>
            <a:ext cx="91440" cy="1280160"/>
          </a:xfrm>
          <a:prstGeom prst="line">
            <a:avLst/>
          </a:prstGeom>
          <a:ln w="19050">
            <a:solidFill>
              <a:srgbClr val="BE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469880" y="4526280"/>
            <a:ext cx="91439" cy="914400"/>
          </a:xfrm>
          <a:prstGeom prst="line">
            <a:avLst/>
          </a:prstGeom>
          <a:ln w="19050">
            <a:solidFill>
              <a:srgbClr val="BE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418319" y="5257800"/>
            <a:ext cx="1051561" cy="182880"/>
          </a:xfrm>
          <a:prstGeom prst="line">
            <a:avLst/>
          </a:prstGeom>
          <a:ln w="19050">
            <a:solidFill>
              <a:srgbClr val="BE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229600" y="4251960"/>
            <a:ext cx="384048" cy="384048"/>
          </a:xfrm>
          <a:prstGeom prst="ellipse">
            <a:avLst/>
          </a:prstGeom>
          <a:solidFill>
            <a:srgbClr val="3D749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0" y="3794760"/>
            <a:ext cx="384048" cy="384048"/>
          </a:xfrm>
          <a:prstGeom prst="ellipse">
            <a:avLst/>
          </a:prstGeom>
          <a:solidFill>
            <a:srgbClr val="5687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10378440" y="4343400"/>
            <a:ext cx="384048" cy="384048"/>
          </a:xfrm>
          <a:prstGeom prst="ellipse">
            <a:avLst/>
          </a:prstGeom>
          <a:solidFill>
            <a:srgbClr val="3D749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C</a:t>
            </a:r>
          </a:p>
        </p:txBody>
      </p:sp>
      <p:sp>
        <p:nvSpPr>
          <p:cNvPr id="15" name="Oval 14"/>
          <p:cNvSpPr/>
          <p:nvPr/>
        </p:nvSpPr>
        <p:spPr>
          <a:xfrm>
            <a:off x="9235440" y="5074920"/>
            <a:ext cx="384048" cy="384048"/>
          </a:xfrm>
          <a:prstGeom prst="ellipse">
            <a:avLst/>
          </a:prstGeom>
          <a:solidFill>
            <a:srgbClr val="5687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D</a:t>
            </a:r>
          </a:p>
        </p:txBody>
      </p:sp>
      <p:sp>
        <p:nvSpPr>
          <p:cNvPr id="16" name="Oval 15"/>
          <p:cNvSpPr/>
          <p:nvPr/>
        </p:nvSpPr>
        <p:spPr>
          <a:xfrm>
            <a:off x="10287000" y="5257800"/>
            <a:ext cx="384048" cy="384048"/>
          </a:xfrm>
          <a:prstGeom prst="ellipse">
            <a:avLst/>
          </a:prstGeom>
          <a:solidFill>
            <a:srgbClr val="5687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Georgia"/>
              </a:defRPr>
            </a:pPr>
            <a: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62356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96969"/>
                </a:solidFill>
                <a:latin typeface="Georgia"/>
              </a:defRPr>
            </a:pPr>
            <a:r>
              <a:t>Citation 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  <a:defRPr sz="2000">
                <a:solidFill>
                  <a:srgbClr val="303030"/>
                </a:solidFill>
                <a:latin typeface="Georgia"/>
              </a:defRPr>
            </a:pPr>
            <a:r>
              <a:t>The Citation-Network Analytics Platform provides a graph-based approach to understanding academic literature.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000">
                <a:solidFill>
                  <a:srgbClr val="303030"/>
                </a:solidFill>
                <a:latin typeface="Georgia"/>
              </a:defRPr>
            </a:pPr>
            <a:r>
              <a:t>It models papers as nodes and citations as directed edges.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000">
                <a:solidFill>
                  <a:srgbClr val="303030"/>
                </a:solidFill>
                <a:latin typeface="Georgia"/>
              </a:defRPr>
            </a:pPr>
            <a:r>
              <a:t>Graph algorithms help explore citation paths, identify influential papers, and discover research communities.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000">
                <a:solidFill>
                  <a:srgbClr val="303030"/>
                </a:solidFill>
                <a:latin typeface="Georgia"/>
              </a:defRPr>
            </a:pPr>
            <a:r>
              <a:t>Author-paper relationships extend the analysis to publications and collaborations.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000">
                <a:solidFill>
                  <a:srgbClr val="303030"/>
                </a:solidFill>
                <a:latin typeface="Georgia"/>
              </a:defRPr>
            </a:pPr>
            <a:r>
              <a:t>The interactive dashboard provides a systematic way for students and researchers to explore research relationships.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562356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E25B4E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983480"/>
            <a:ext cx="1417320" cy="502920"/>
          </a:xfrm>
          <a:prstGeom prst="roundRect">
            <a:avLst/>
          </a:prstGeom>
          <a:solidFill>
            <a:srgbClr val="3D7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Georgia"/>
              </a:defRPr>
            </a:pPr>
            <a:r>
              <a:t>Papers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6120" y="5230368"/>
            <a:ext cx="1143000" cy="0"/>
          </a:xfrm>
          <a:prstGeom prst="line">
            <a:avLst/>
          </a:prstGeom>
          <a:ln w="19050">
            <a:solidFill>
              <a:srgbClr val="BE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89120" y="4983480"/>
            <a:ext cx="1417320" cy="502920"/>
          </a:xfrm>
          <a:prstGeom prst="roundRect">
            <a:avLst/>
          </a:prstGeom>
          <a:solidFill>
            <a:srgbClr val="56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Georgia"/>
              </a:defRPr>
            </a:pPr>
            <a:r>
              <a:t>Graph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06440" y="5230368"/>
            <a:ext cx="1143000" cy="0"/>
          </a:xfrm>
          <a:prstGeom prst="line">
            <a:avLst/>
          </a:prstGeom>
          <a:ln w="19050">
            <a:solidFill>
              <a:srgbClr val="BE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49440" y="4983480"/>
            <a:ext cx="1417320" cy="502920"/>
          </a:xfrm>
          <a:prstGeom prst="round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Georgia"/>
              </a:defRPr>
            </a:pPr>
            <a:r>
              <a:t>Analysis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66760" y="5230368"/>
            <a:ext cx="1143000" cy="0"/>
          </a:xfrm>
          <a:prstGeom prst="line">
            <a:avLst/>
          </a:prstGeom>
          <a:ln w="19050">
            <a:solidFill>
              <a:srgbClr val="BE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09760" y="4983480"/>
            <a:ext cx="1417320" cy="502920"/>
          </a:xfrm>
          <a:prstGeom prst="roundRect">
            <a:avLst/>
          </a:prstGeom>
          <a:solidFill>
            <a:srgbClr val="E25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Georgia"/>
              </a:defRPr>
            </a:pPr>
            <a:r>
              <a:t>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Extend the platform with larger and continuously updated research-paper datasets.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Improve interactive visualization for large citation networks.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Add more advanced graph analytics for deeper research-trend analysis.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Enhance author collaboration analysis with richer publication relationships.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Provide more detailed filtering and search options for papers, authors, communities, and citation paths.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Integrate additional external research resources as the platform evolves.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4937760"/>
            <a:ext cx="502920" cy="548640"/>
          </a:xfrm>
          <a:prstGeom prst="rect">
            <a:avLst/>
          </a:prstGeom>
          <a:solidFill>
            <a:srgbClr val="3D7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0" y="4572000"/>
            <a:ext cx="502920" cy="914400"/>
          </a:xfrm>
          <a:prstGeom prst="rect">
            <a:avLst/>
          </a:prstGeom>
          <a:solidFill>
            <a:srgbClr val="56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4160520"/>
            <a:ext cx="502920" cy="1325880"/>
          </a:xfrm>
          <a:prstGeom prst="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0" y="3749039"/>
            <a:ext cx="502920" cy="1737360"/>
          </a:xfrm>
          <a:prstGeom prst="rect">
            <a:avLst/>
          </a:prstGeom>
          <a:solidFill>
            <a:srgbClr val="E25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559612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96969"/>
                </a:solidFill>
                <a:latin typeface="Georgia"/>
              </a:defRPr>
            </a:pPr>
            <a:r>
              <a:t>Future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